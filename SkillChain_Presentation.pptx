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 cy="384048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3840480"/>
          </a:xfrm>
          <a:prstGeom prst="rect">
            <a:avLst/>
          </a:prstGeom>
          <a:noFill/>
        </p:spPr>
        <p:txBody>
          <a:bodyPr wrap="square">
            <a:spAutoFit/>
          </a:bodyPr>
          <a:lstStyle/>
          <a:p>
            <a:pPr>
              <a:spcAft>
                <a:spcPts val="1400"/>
              </a:spcAft>
              <a:defRPr sz="1100" b="1">
                <a:solidFill>
                  <a:srgbClr val="60A5FA"/>
                </a:solidFill>
                <a:latin typeface="Calibri"/>
              </a:defRPr>
            </a:pPr>
            <a:r>
              <a:t>COLLEGE MAJOR PROJECT PRESENTATION • BLOCKCHAIN &amp; WEB3</a:t>
            </a:r>
          </a:p>
          <a:p>
            <a:pPr>
              <a:spcAft>
                <a:spcPts val="800"/>
              </a:spcAft>
              <a:defRPr sz="4600" b="1">
                <a:solidFill>
                  <a:srgbClr val="FFFFFF"/>
                </a:solidFill>
                <a:latin typeface="Calibri"/>
              </a:defRPr>
            </a:pPr>
            <a:r>
              <a:t>SkillChain</a:t>
            </a:r>
          </a:p>
          <a:p>
            <a:pPr>
              <a:spcAft>
                <a:spcPts val="1600"/>
              </a:spcAft>
              <a:defRPr sz="2000" b="1">
                <a:solidFill>
                  <a:srgbClr val="E2E8F0"/>
                </a:solidFill>
                <a:latin typeface="Calibri"/>
              </a:defRPr>
            </a:pPr>
            <a:r>
              <a:t>Blockchain-Based Skill Passport &amp; Decentralized Credential Verification</a:t>
            </a:r>
          </a:p>
          <a:p>
            <a:pPr>
              <a:spcAft>
                <a:spcPts val="2800"/>
              </a:spcAft>
              <a:defRPr sz="1300" b="0">
                <a:solidFill>
                  <a:srgbClr val="94A3B8"/>
                </a:solidFill>
                <a:latin typeface="Calibri"/>
              </a:defRPr>
            </a:pPr>
            <a:r>
              <a:t>A zero-trust academic verification platform leveraging Ethereum smart contracts and cryptographic SHA-256 hashing to eliminate certificate fraud.</a:t>
            </a:r>
          </a:p>
          <a:p>
            <a:pPr>
              <a:spcAft>
                <a:spcPts val="400"/>
              </a:spcAft>
              <a:defRPr sz="1200" b="1">
                <a:solidFill>
                  <a:srgbClr val="CBD5E1"/>
                </a:solidFill>
                <a:latin typeface="Calibri"/>
              </a:defRPr>
            </a:pPr>
            <a:r>
              <a:t>Author: Saksham Pathak   |   Tech: Solidity, Hardhat, Ethers.js, React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Background &amp; Motivation</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832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2926080" cy="4297680"/>
          </a:xfrm>
          <a:prstGeom prst="rect">
            <a:avLst/>
          </a:prstGeom>
          <a:noFill/>
        </p:spPr>
        <p:txBody>
          <a:bodyPr wrap="square">
            <a:spAutoFit/>
          </a:bodyPr>
          <a:lstStyle/>
          <a:p>
            <a:pPr>
              <a:spcAft>
                <a:spcPts val="1200"/>
              </a:spcAft>
              <a:defRPr sz="1600" b="1">
                <a:solidFill>
                  <a:srgbClr val="0F172A"/>
                </a:solidFill>
                <a:latin typeface="Calibri"/>
              </a:defRPr>
            </a:pPr>
            <a:r>
              <a:t>The Credential Crisis</a:t>
            </a:r>
          </a:p>
          <a:p>
            <a:pPr>
              <a:spcAft>
                <a:spcPts val="1000"/>
              </a:spcAft>
              <a:defRPr sz="1150" b="0">
                <a:solidFill>
                  <a:srgbClr val="0F172A"/>
                </a:solidFill>
                <a:latin typeface="Calibri"/>
              </a:defRPr>
            </a:pPr>
            <a:r>
              <a:t>- Degrees, diplomas, and certifications are foundational for employment and admissions.</a:t>
            </a:r>
          </a:p>
          <a:p>
            <a:pPr>
              <a:spcAft>
                <a:spcPts val="1000"/>
              </a:spcAft>
              <a:defRPr sz="1150" b="0">
                <a:solidFill>
                  <a:srgbClr val="0F172A"/>
                </a:solidFill>
                <a:latin typeface="Calibri"/>
              </a:defRPr>
            </a:pPr>
            <a:r>
              <a:t>- Traditional paper documents and static digital PDFs are exceptionally easy to forge.</a:t>
            </a:r>
          </a:p>
          <a:p>
            <a:pPr>
              <a:spcAft>
                <a:spcPts val="1000"/>
              </a:spcAft>
              <a:defRPr sz="1150" b="0">
                <a:solidFill>
                  <a:srgbClr val="0F172A"/>
                </a:solidFill>
                <a:latin typeface="Calibri"/>
              </a:defRPr>
            </a:pPr>
            <a:r>
              <a:t>- Over 30% of resumes contain modified or embellished educational and skill claims.</a:t>
            </a:r>
          </a:p>
          <a:p>
            <a:pPr>
              <a:spcAft>
                <a:spcPts val="1000"/>
              </a:spcAft>
              <a:defRPr sz="1150" b="0">
                <a:solidFill>
                  <a:srgbClr val="0F172A"/>
                </a:solidFill>
                <a:latin typeface="Calibri"/>
              </a:defRPr>
            </a:pPr>
            <a:r>
              <a:t>- Credential fraud has become a multi-billion dollar worldwide challenge.</a:t>
            </a:r>
          </a:p>
        </p:txBody>
      </p:sp>
      <p:sp>
        <p:nvSpPr>
          <p:cNvPr id="8" name="Rounded Rectangle 7"/>
          <p:cNvSpPr/>
          <p:nvPr/>
        </p:nvSpPr>
        <p:spPr>
          <a:xfrm>
            <a:off x="4389120" y="1463040"/>
            <a:ext cx="33832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91640"/>
            <a:ext cx="2926080" cy="4297680"/>
          </a:xfrm>
          <a:prstGeom prst="rect">
            <a:avLst/>
          </a:prstGeom>
          <a:noFill/>
        </p:spPr>
        <p:txBody>
          <a:bodyPr wrap="square">
            <a:spAutoFit/>
          </a:bodyPr>
          <a:lstStyle/>
          <a:p>
            <a:pPr>
              <a:spcAft>
                <a:spcPts val="1200"/>
              </a:spcAft>
              <a:defRPr sz="1600" b="1">
                <a:solidFill>
                  <a:srgbClr val="0F172A"/>
                </a:solidFill>
                <a:latin typeface="Calibri"/>
              </a:defRPr>
            </a:pPr>
            <a:r>
              <a:t>Centralized Flaws</a:t>
            </a:r>
          </a:p>
          <a:p>
            <a:pPr>
              <a:spcAft>
                <a:spcPts val="1000"/>
              </a:spcAft>
              <a:defRPr sz="1150" b="0">
                <a:solidFill>
                  <a:srgbClr val="0F172A"/>
                </a:solidFill>
                <a:latin typeface="Calibri"/>
              </a:defRPr>
            </a:pPr>
            <a:r>
              <a:t>- Verification currently requires contacting registrar offices or proprietary portals.</a:t>
            </a:r>
          </a:p>
          <a:p>
            <a:pPr>
              <a:spcAft>
                <a:spcPts val="1000"/>
              </a:spcAft>
              <a:defRPr sz="1150" b="0">
                <a:solidFill>
                  <a:srgbClr val="0F172A"/>
                </a:solidFill>
                <a:latin typeface="Calibri"/>
              </a:defRPr>
            </a:pPr>
            <a:r>
              <a:t>- Centralized databases represent single points of failure vulnerable to cyberattacks.</a:t>
            </a:r>
          </a:p>
          <a:p>
            <a:pPr>
              <a:spcAft>
                <a:spcPts val="1000"/>
              </a:spcAft>
              <a:defRPr sz="1150" b="0">
                <a:solidFill>
                  <a:srgbClr val="0F172A"/>
                </a:solidFill>
                <a:latin typeface="Calibri"/>
              </a:defRPr>
            </a:pPr>
            <a:r>
              <a:t>- Manual background checks take between 5 to 20 business days to complete.</a:t>
            </a:r>
          </a:p>
          <a:p>
            <a:pPr>
              <a:spcAft>
                <a:spcPts val="1000"/>
              </a:spcAft>
              <a:defRPr sz="1150" b="0">
                <a:solidFill>
                  <a:srgbClr val="0F172A"/>
                </a:solidFill>
                <a:latin typeface="Calibri"/>
              </a:defRPr>
            </a:pPr>
            <a:r>
              <a:t>- High administrative costs for universities and candidate screening agencies.</a:t>
            </a:r>
          </a:p>
        </p:txBody>
      </p:sp>
      <p:sp>
        <p:nvSpPr>
          <p:cNvPr id="10" name="Rounded Rectangle 9"/>
          <p:cNvSpPr/>
          <p:nvPr/>
        </p:nvSpPr>
        <p:spPr>
          <a:xfrm>
            <a:off x="8046720" y="1463040"/>
            <a:ext cx="3383280" cy="4754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691640"/>
            <a:ext cx="2926080" cy="4297680"/>
          </a:xfrm>
          <a:prstGeom prst="rect">
            <a:avLst/>
          </a:prstGeom>
          <a:noFill/>
        </p:spPr>
        <p:txBody>
          <a:bodyPr wrap="square">
            <a:spAutoFit/>
          </a:bodyPr>
          <a:lstStyle/>
          <a:p>
            <a:pPr>
              <a:spcAft>
                <a:spcPts val="1200"/>
              </a:spcAft>
              <a:defRPr sz="1600" b="1">
                <a:solidFill>
                  <a:srgbClr val="2563EB"/>
                </a:solidFill>
                <a:latin typeface="Calibri"/>
              </a:defRPr>
            </a:pPr>
            <a:r>
              <a:t>The Web3 Opportunity</a:t>
            </a:r>
          </a:p>
          <a:p>
            <a:pPr>
              <a:spcAft>
                <a:spcPts val="1000"/>
              </a:spcAft>
              <a:defRPr sz="1150" b="0">
                <a:solidFill>
                  <a:srgbClr val="0F172A"/>
                </a:solidFill>
                <a:latin typeface="Calibri"/>
              </a:defRPr>
            </a:pPr>
            <a:r>
              <a:t>[+] Blockchain delivers an immutable, decentralized ledger immune to unilateral tampering.</a:t>
            </a:r>
          </a:p>
          <a:p>
            <a:pPr>
              <a:spcAft>
                <a:spcPts val="1000"/>
              </a:spcAft>
              <a:defRPr sz="1150" b="0">
                <a:solidFill>
                  <a:srgbClr val="0F172A"/>
                </a:solidFill>
                <a:latin typeface="Calibri"/>
              </a:defRPr>
            </a:pPr>
            <a:r>
              <a:t>[+] Smart contracts enforce deterministic verification rules without human bias.</a:t>
            </a:r>
          </a:p>
          <a:p>
            <a:pPr>
              <a:spcAft>
                <a:spcPts val="1000"/>
              </a:spcAft>
              <a:defRPr sz="1150" b="0">
                <a:solidFill>
                  <a:srgbClr val="0F172A"/>
                </a:solidFill>
                <a:latin typeface="Calibri"/>
              </a:defRPr>
            </a:pPr>
            <a:r>
              <a:t>[+] Public zero-trust verification: Anyone can authenticate credentials in milliseconds.</a:t>
            </a:r>
          </a:p>
          <a:p>
            <a:pPr>
              <a:spcAft>
                <a:spcPts val="1000"/>
              </a:spcAft>
              <a:defRPr sz="1150" b="0">
                <a:solidFill>
                  <a:srgbClr val="0F172A"/>
                </a:solidFill>
                <a:latin typeface="Calibri"/>
              </a:defRPr>
            </a:pPr>
            <a:r>
              <a:t>[+] Cryptographic hashing protects student personal privacy while proving authenticity.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Problem Statement: Current Verification Deficiencies</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45920"/>
            <a:ext cx="4663440" cy="1828800"/>
          </a:xfrm>
          <a:prstGeom prst="rect">
            <a:avLst/>
          </a:prstGeom>
          <a:noFill/>
        </p:spPr>
        <p:txBody>
          <a:bodyPr wrap="square">
            <a:spAutoFit/>
          </a:bodyPr>
          <a:lstStyle/>
          <a:p>
            <a:pPr>
              <a:spcAft>
                <a:spcPts val="800"/>
              </a:spcAft>
              <a:defRPr sz="1400" b="1">
                <a:solidFill>
                  <a:srgbClr val="2563EB"/>
                </a:solidFill>
                <a:latin typeface="Calibri"/>
              </a:defRPr>
            </a:pPr>
            <a:r>
              <a:t>1. Ease of Digital Alteration</a:t>
            </a:r>
          </a:p>
          <a:p>
            <a:pPr>
              <a:spcAft>
                <a:spcPts val="400"/>
              </a:spcAft>
              <a:defRPr sz="1100" b="0">
                <a:solidFill>
                  <a:srgbClr val="0F172A"/>
                </a:solidFill>
                <a:latin typeface="Calibri"/>
              </a:defRPr>
            </a:pPr>
            <a:r>
              <a:t>PDF credentials and scans can be altered using basic consumer graphic software. Modifying a student's name, degree class, or course title leaves no digital audit trail.</a:t>
            </a:r>
          </a:p>
        </p:txBody>
      </p:sp>
      <p:sp>
        <p:nvSpPr>
          <p:cNvPr id="8" name="Rounded Rectangle 7"/>
          <p:cNvSpPr/>
          <p:nvPr/>
        </p:nvSpPr>
        <p:spPr>
          <a:xfrm>
            <a:off x="6217920" y="146304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1828800"/>
          </a:xfrm>
          <a:prstGeom prst="rect">
            <a:avLst/>
          </a:prstGeom>
          <a:noFill/>
        </p:spPr>
        <p:txBody>
          <a:bodyPr wrap="square">
            <a:spAutoFit/>
          </a:bodyPr>
          <a:lstStyle/>
          <a:p>
            <a:pPr>
              <a:spcAft>
                <a:spcPts val="800"/>
              </a:spcAft>
              <a:defRPr sz="1400" b="1">
                <a:solidFill>
                  <a:srgbClr val="2563EB"/>
                </a:solidFill>
                <a:latin typeface="Calibri"/>
              </a:defRPr>
            </a:pPr>
            <a:r>
              <a:t>2. Verification Delay &amp; High Overhead</a:t>
            </a:r>
          </a:p>
          <a:p>
            <a:pPr>
              <a:spcAft>
                <a:spcPts val="400"/>
              </a:spcAft>
              <a:defRPr sz="1100" b="0">
                <a:solidFill>
                  <a:srgbClr val="0F172A"/>
                </a:solidFill>
                <a:latin typeface="Calibri"/>
              </a:defRPr>
            </a:pPr>
            <a:r>
              <a:t>Recruiters and institutions must submit email or phone verification requests to universities. This creates substantial delays during critical hiring and admissions cycles.</a:t>
            </a:r>
          </a:p>
        </p:txBody>
      </p:sp>
      <p:sp>
        <p:nvSpPr>
          <p:cNvPr id="10" name="Rounded Rectangle 9"/>
          <p:cNvSpPr/>
          <p:nvPr/>
        </p:nvSpPr>
        <p:spPr>
          <a:xfrm>
            <a:off x="731520" y="393192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14800"/>
            <a:ext cx="4663440" cy="1828800"/>
          </a:xfrm>
          <a:prstGeom prst="rect">
            <a:avLst/>
          </a:prstGeom>
          <a:noFill/>
        </p:spPr>
        <p:txBody>
          <a:bodyPr wrap="square">
            <a:spAutoFit/>
          </a:bodyPr>
          <a:lstStyle/>
          <a:p>
            <a:pPr>
              <a:spcAft>
                <a:spcPts val="800"/>
              </a:spcAft>
              <a:defRPr sz="1400" b="1">
                <a:solidFill>
                  <a:srgbClr val="2563EB"/>
                </a:solidFill>
                <a:latin typeface="Calibri"/>
              </a:defRPr>
            </a:pPr>
            <a:r>
              <a:t>3. Database Vulnerability &amp; Tampering</a:t>
            </a:r>
          </a:p>
          <a:p>
            <a:pPr>
              <a:spcAft>
                <a:spcPts val="400"/>
              </a:spcAft>
              <a:defRPr sz="1100" b="0">
                <a:solidFill>
                  <a:srgbClr val="0F172A"/>
                </a:solidFill>
                <a:latin typeface="Calibri"/>
              </a:defRPr>
            </a:pPr>
            <a:r>
              <a:t>Centralized education repositories are prime targets for ransomware, insider tampering, and server outages. If the server goes down, verification ceases entirely.</a:t>
            </a:r>
          </a:p>
        </p:txBody>
      </p:sp>
      <p:sp>
        <p:nvSpPr>
          <p:cNvPr id="12" name="Rounded Rectangle 11"/>
          <p:cNvSpPr/>
          <p:nvPr/>
        </p:nvSpPr>
        <p:spPr>
          <a:xfrm>
            <a:off x="6217920" y="393192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114800"/>
            <a:ext cx="4663440" cy="1828800"/>
          </a:xfrm>
          <a:prstGeom prst="rect">
            <a:avLst/>
          </a:prstGeom>
          <a:noFill/>
        </p:spPr>
        <p:txBody>
          <a:bodyPr wrap="square">
            <a:spAutoFit/>
          </a:bodyPr>
          <a:lstStyle/>
          <a:p>
            <a:pPr>
              <a:spcAft>
                <a:spcPts val="800"/>
              </a:spcAft>
              <a:defRPr sz="1400" b="1">
                <a:solidFill>
                  <a:srgbClr val="2563EB"/>
                </a:solidFill>
                <a:latin typeface="Calibri"/>
              </a:defRPr>
            </a:pPr>
            <a:r>
              <a:t>4. The Revocation Dilemma</a:t>
            </a:r>
          </a:p>
          <a:p>
            <a:pPr>
              <a:spcAft>
                <a:spcPts val="400"/>
              </a:spcAft>
              <a:defRPr sz="1100" b="0">
                <a:solidFill>
                  <a:srgbClr val="0F172A"/>
                </a:solidFill>
                <a:latin typeface="Calibri"/>
              </a:defRPr>
            </a:pPr>
            <a:r>
              <a:t>When a student certificate is cancelled due to academic malpractice, paper copies or cached PDF files remain in circulation with no real-time way for verifiers to discover the revocation.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Proposed Solution: SkillChain Architecture</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4389120" cy="475488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3840480" cy="4206240"/>
          </a:xfrm>
          <a:prstGeom prst="rect">
            <a:avLst/>
          </a:prstGeom>
          <a:noFill/>
        </p:spPr>
        <p:txBody>
          <a:bodyPr wrap="square">
            <a:spAutoFit/>
          </a:bodyPr>
          <a:lstStyle/>
          <a:p>
            <a:pPr>
              <a:spcAft>
                <a:spcPts val="1400"/>
              </a:spcAft>
              <a:defRPr sz="1800" b="1">
                <a:solidFill>
                  <a:srgbClr val="FFFFFF"/>
                </a:solidFill>
                <a:latin typeface="Calibri"/>
              </a:defRPr>
            </a:pPr>
            <a:r>
              <a:t>The SkillChain Philosophy</a:t>
            </a:r>
          </a:p>
          <a:p>
            <a:pPr>
              <a:spcAft>
                <a:spcPts val="1400"/>
              </a:spcAft>
              <a:defRPr sz="1500" b="1">
                <a:solidFill>
                  <a:srgbClr val="60A5FA"/>
                </a:solidFill>
                <a:latin typeface="Calibri"/>
              </a:defRPr>
            </a:pPr>
            <a:r>
              <a:t>"Your Skills. Your Proof."</a:t>
            </a:r>
          </a:p>
          <a:p>
            <a:pPr>
              <a:spcAft>
                <a:spcPts val="1000"/>
              </a:spcAft>
              <a:defRPr sz="1200" b="0">
                <a:solidFill>
                  <a:srgbClr val="E2E8F0"/>
                </a:solidFill>
                <a:latin typeface="Calibri"/>
              </a:defRPr>
            </a:pPr>
            <a:r>
              <a:t>SkillChain is a decentralized skill passport where institutions anchor tamper-proof cryptographic proofs (SHA-256 digests) into Ethereum smart contracts.</a:t>
            </a:r>
          </a:p>
          <a:p>
            <a:pPr>
              <a:spcAft>
                <a:spcPts val="400"/>
              </a:spcAft>
              <a:defRPr sz="1200" b="0">
                <a:solidFill>
                  <a:srgbClr val="E2E8F0"/>
                </a:solidFill>
                <a:latin typeface="Calibri"/>
              </a:defRPr>
            </a:pPr>
            <a:r>
              <a:t>Sensitive student records remain off-chain for privacy, while the blockchain guarantees zero-trust immutability and instant public verification.</a:t>
            </a:r>
          </a:p>
        </p:txBody>
      </p:sp>
      <p:sp>
        <p:nvSpPr>
          <p:cNvPr id="8" name="Rounded Rectangle 7"/>
          <p:cNvSpPr/>
          <p:nvPr/>
        </p:nvSpPr>
        <p:spPr>
          <a:xfrm>
            <a:off x="5303520" y="1463040"/>
            <a:ext cx="621792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627632"/>
            <a:ext cx="5669280" cy="1097280"/>
          </a:xfrm>
          <a:prstGeom prst="rect">
            <a:avLst/>
          </a:prstGeom>
          <a:noFill/>
        </p:spPr>
        <p:txBody>
          <a:bodyPr wrap="square">
            <a:spAutoFit/>
          </a:bodyPr>
          <a:lstStyle/>
          <a:p>
            <a:pPr>
              <a:spcAft>
                <a:spcPts val="400"/>
              </a:spcAft>
              <a:defRPr sz="1300" b="1">
                <a:solidFill>
                  <a:srgbClr val="2563EB"/>
                </a:solidFill>
                <a:latin typeface="Calibri"/>
              </a:defRPr>
            </a:pPr>
            <a:r>
              <a:t>Cryptographic Fingerprinting (SHA-256)</a:t>
            </a:r>
          </a:p>
          <a:p>
            <a:pPr>
              <a:spcAft>
                <a:spcPts val="400"/>
              </a:spcAft>
              <a:defRPr sz="1050" b="0">
                <a:solidFill>
                  <a:srgbClr val="0F172A"/>
                </a:solidFill>
                <a:latin typeface="Calibri"/>
              </a:defRPr>
            </a:pPr>
            <a:r>
              <a:t>Generates a deterministic 256-bit hash of student details. Even a single character change completely alters the hash, instantly exposing tampering.</a:t>
            </a:r>
          </a:p>
        </p:txBody>
      </p:sp>
      <p:sp>
        <p:nvSpPr>
          <p:cNvPr id="10" name="Rounded Rectangle 9"/>
          <p:cNvSpPr/>
          <p:nvPr/>
        </p:nvSpPr>
        <p:spPr>
          <a:xfrm>
            <a:off x="5303520" y="3108960"/>
            <a:ext cx="621792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3273552"/>
            <a:ext cx="5669280" cy="1097280"/>
          </a:xfrm>
          <a:prstGeom prst="rect">
            <a:avLst/>
          </a:prstGeom>
          <a:noFill/>
        </p:spPr>
        <p:txBody>
          <a:bodyPr wrap="square">
            <a:spAutoFit/>
          </a:bodyPr>
          <a:lstStyle/>
          <a:p>
            <a:pPr>
              <a:spcAft>
                <a:spcPts val="400"/>
              </a:spcAft>
              <a:defRPr sz="1300" b="1">
                <a:solidFill>
                  <a:srgbClr val="2563EB"/>
                </a:solidFill>
                <a:latin typeface="Calibri"/>
              </a:defRPr>
            </a:pPr>
            <a:r>
              <a:t>Immutable On-Chain Ledger</a:t>
            </a:r>
          </a:p>
          <a:p>
            <a:pPr>
              <a:spcAft>
                <a:spcPts val="400"/>
              </a:spcAft>
              <a:defRPr sz="1050" b="0">
                <a:solidFill>
                  <a:srgbClr val="0F172A"/>
                </a:solidFill>
                <a:latin typeface="Calibri"/>
              </a:defRPr>
            </a:pPr>
            <a:r>
              <a:t>Certificate records, timestamps, and issuer wallet addresses are recorded in a Solidity contract on Ethereum—immune to centralized manipulation or deletion.</a:t>
            </a:r>
          </a:p>
        </p:txBody>
      </p:sp>
      <p:sp>
        <p:nvSpPr>
          <p:cNvPr id="12" name="Rounded Rectangle 11"/>
          <p:cNvSpPr/>
          <p:nvPr/>
        </p:nvSpPr>
        <p:spPr>
          <a:xfrm>
            <a:off x="5303520" y="4754880"/>
            <a:ext cx="621792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4919472"/>
            <a:ext cx="5669280" cy="1097280"/>
          </a:xfrm>
          <a:prstGeom prst="rect">
            <a:avLst/>
          </a:prstGeom>
          <a:noFill/>
        </p:spPr>
        <p:txBody>
          <a:bodyPr wrap="square">
            <a:spAutoFit/>
          </a:bodyPr>
          <a:lstStyle/>
          <a:p>
            <a:pPr>
              <a:spcAft>
                <a:spcPts val="400"/>
              </a:spcAft>
              <a:defRPr sz="1300" b="1">
                <a:solidFill>
                  <a:srgbClr val="2563EB"/>
                </a:solidFill>
                <a:latin typeface="Calibri"/>
              </a:defRPr>
            </a:pPr>
            <a:r>
              <a:t>Instant Public Verification</a:t>
            </a:r>
          </a:p>
          <a:p>
            <a:pPr>
              <a:spcAft>
                <a:spcPts val="400"/>
              </a:spcAft>
              <a:defRPr sz="1050" b="0">
                <a:solidFill>
                  <a:srgbClr val="0F172A"/>
                </a:solidFill>
                <a:latin typeface="Calibri"/>
              </a:defRPr>
            </a:pPr>
            <a:r>
              <a:t>Anyone (employers, universities) can query the contract in milliseconds using the Certificate ID without requiring privileged portal logins.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System Architecture &amp; End-to-End Workflow</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2103120" cy="4297680"/>
          </a:xfrm>
          <a:prstGeom prst="rect">
            <a:avLst/>
          </a:prstGeom>
          <a:noFill/>
        </p:spPr>
        <p:txBody>
          <a:bodyPr wrap="square">
            <a:spAutoFit/>
          </a:bodyPr>
          <a:lstStyle/>
          <a:p>
            <a:pPr>
              <a:spcAft>
                <a:spcPts val="1000"/>
              </a:spcAft>
              <a:defRPr sz="1300" b="1">
                <a:solidFill>
                  <a:srgbClr val="2563EB"/>
                </a:solidFill>
                <a:latin typeface="Calibri"/>
              </a:defRPr>
            </a:pPr>
            <a:r>
              <a:t>Step 1: Certificate Creation</a:t>
            </a:r>
          </a:p>
          <a:p>
            <a:pPr>
              <a:spcAft>
                <a:spcPts val="400"/>
              </a:spcAft>
              <a:defRPr sz="1050" b="0">
                <a:solidFill>
                  <a:srgbClr val="0F172A"/>
                </a:solidFill>
                <a:latin typeface="Calibri"/>
              </a:defRPr>
            </a:pPr>
            <a:r>
              <a:t>Issuer fills out student name, skill title, issuing organization, and date in the React frontend.</a:t>
            </a:r>
          </a:p>
        </p:txBody>
      </p:sp>
      <p:sp>
        <p:nvSpPr>
          <p:cNvPr id="8" name="Rounded Rectangle 7"/>
          <p:cNvSpPr/>
          <p:nvPr/>
        </p:nvSpPr>
        <p:spPr>
          <a:xfrm>
            <a:off x="34747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645920"/>
            <a:ext cx="2103120" cy="4297680"/>
          </a:xfrm>
          <a:prstGeom prst="rect">
            <a:avLst/>
          </a:prstGeom>
          <a:noFill/>
        </p:spPr>
        <p:txBody>
          <a:bodyPr wrap="square">
            <a:spAutoFit/>
          </a:bodyPr>
          <a:lstStyle/>
          <a:p>
            <a:pPr>
              <a:spcAft>
                <a:spcPts val="1000"/>
              </a:spcAft>
              <a:defRPr sz="1300" b="1">
                <a:solidFill>
                  <a:srgbClr val="2563EB"/>
                </a:solidFill>
                <a:latin typeface="Calibri"/>
              </a:defRPr>
            </a:pPr>
            <a:r>
              <a:t>Step 2: SHA-256 &amp; ID Generation</a:t>
            </a:r>
          </a:p>
          <a:p>
            <a:pPr>
              <a:spcAft>
                <a:spcPts val="400"/>
              </a:spcAft>
              <a:defRPr sz="1050" b="0">
                <a:solidFill>
                  <a:srgbClr val="0F172A"/>
                </a:solidFill>
                <a:latin typeface="Calibri"/>
              </a:defRPr>
            </a:pPr>
            <a:r>
              <a:t>Frontend normalizes data, generates unique ID (SKC-2026-XXXX), and computes SHA-256 hash using Ethers.js.</a:t>
            </a:r>
          </a:p>
        </p:txBody>
      </p:sp>
      <p:sp>
        <p:nvSpPr>
          <p:cNvPr id="10" name="Rounded Rectangle 9"/>
          <p:cNvSpPr/>
          <p:nvPr/>
        </p:nvSpPr>
        <p:spPr>
          <a:xfrm>
            <a:off x="62179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2103120" cy="4297680"/>
          </a:xfrm>
          <a:prstGeom prst="rect">
            <a:avLst/>
          </a:prstGeom>
          <a:noFill/>
        </p:spPr>
        <p:txBody>
          <a:bodyPr wrap="square">
            <a:spAutoFit/>
          </a:bodyPr>
          <a:lstStyle/>
          <a:p>
            <a:pPr>
              <a:spcAft>
                <a:spcPts val="1000"/>
              </a:spcAft>
              <a:defRPr sz="1300" b="1">
                <a:solidFill>
                  <a:srgbClr val="2563EB"/>
                </a:solidFill>
                <a:latin typeface="Calibri"/>
              </a:defRPr>
            </a:pPr>
            <a:r>
              <a:t>Step 3: Smart Contract Anchoring</a:t>
            </a:r>
          </a:p>
          <a:p>
            <a:pPr>
              <a:spcAft>
                <a:spcPts val="400"/>
              </a:spcAft>
              <a:defRPr sz="1050" b="0">
                <a:solidFill>
                  <a:srgbClr val="0F172A"/>
                </a:solidFill>
                <a:latin typeface="Calibri"/>
              </a:defRPr>
            </a:pPr>
            <a:r>
              <a:t>Transaction is signed and broadcasted to SkillChain.sol. The contract records ID, hash, issuer, and timestamp.</a:t>
            </a:r>
          </a:p>
        </p:txBody>
      </p:sp>
      <p:sp>
        <p:nvSpPr>
          <p:cNvPr id="12" name="Rounded Rectangle 11"/>
          <p:cNvSpPr/>
          <p:nvPr/>
        </p:nvSpPr>
        <p:spPr>
          <a:xfrm>
            <a:off x="89611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645920"/>
            <a:ext cx="2103120" cy="4297680"/>
          </a:xfrm>
          <a:prstGeom prst="rect">
            <a:avLst/>
          </a:prstGeom>
          <a:noFill/>
        </p:spPr>
        <p:txBody>
          <a:bodyPr wrap="square">
            <a:spAutoFit/>
          </a:bodyPr>
          <a:lstStyle/>
          <a:p>
            <a:pPr>
              <a:spcAft>
                <a:spcPts val="1000"/>
              </a:spcAft>
              <a:defRPr sz="1300" b="1">
                <a:solidFill>
                  <a:srgbClr val="2563EB"/>
                </a:solidFill>
                <a:latin typeface="Calibri"/>
              </a:defRPr>
            </a:pPr>
            <a:r>
              <a:t>Step 4: Public Verification</a:t>
            </a:r>
          </a:p>
          <a:p>
            <a:pPr>
              <a:spcAft>
                <a:spcPts val="400"/>
              </a:spcAft>
              <a:defRPr sz="1050" b="0">
                <a:solidFill>
                  <a:srgbClr val="0F172A"/>
                </a:solidFill>
                <a:latin typeface="Calibri"/>
              </a:defRPr>
            </a:pPr>
            <a:r>
              <a:t>Verifier enters the Certificate ID. The smart contract performs an on-chain hash comparison and flags VERIFIED or INVALID.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Smart Contract Architecture (SkillChain.sol)</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45920"/>
            <a:ext cx="4663440" cy="4297680"/>
          </a:xfrm>
          <a:prstGeom prst="rect">
            <a:avLst/>
          </a:prstGeom>
          <a:noFill/>
        </p:spPr>
        <p:txBody>
          <a:bodyPr wrap="square">
            <a:spAutoFit/>
          </a:bodyPr>
          <a:lstStyle/>
          <a:p>
            <a:pPr>
              <a:spcAft>
                <a:spcPts val="800"/>
              </a:spcAft>
              <a:defRPr sz="1500" b="1">
                <a:solidFill>
                  <a:srgbClr val="0F172A"/>
                </a:solidFill>
                <a:latin typeface="Calibri"/>
              </a:defRPr>
            </a:pPr>
            <a:r>
              <a:t>Data Structure &amp; Storage</a:t>
            </a:r>
          </a:p>
          <a:p>
            <a:pPr>
              <a:spcAft>
                <a:spcPts val="200"/>
              </a:spcAft>
              <a:defRPr sz="950" b="0">
                <a:solidFill>
                  <a:srgbClr val="1E293B"/>
                </a:solidFill>
                <a:latin typeface="Courier New"/>
              </a:defRPr>
            </a:pPr>
            <a:r>
              <a:t>struct Certificate {</a:t>
            </a:r>
          </a:p>
          <a:p>
            <a:pPr>
              <a:spcAft>
                <a:spcPts val="200"/>
              </a:spcAft>
              <a:defRPr sz="950" b="0">
                <a:solidFill>
                  <a:srgbClr val="1E293B"/>
                </a:solidFill>
                <a:latin typeface="Courier New"/>
              </a:defRPr>
            </a:pPr>
            <a:r>
              <a:t>    string certificateId;</a:t>
            </a:r>
          </a:p>
          <a:p>
            <a:pPr>
              <a:spcAft>
                <a:spcPts val="200"/>
              </a:spcAft>
              <a:defRPr sz="950" b="0">
                <a:solidFill>
                  <a:srgbClr val="1E293B"/>
                </a:solidFill>
                <a:latin typeface="Courier New"/>
              </a:defRPr>
            </a:pPr>
            <a:r>
              <a:t>    string certificateHash;  // SHA-256</a:t>
            </a:r>
          </a:p>
          <a:p>
            <a:pPr>
              <a:spcAft>
                <a:spcPts val="200"/>
              </a:spcAft>
              <a:defRPr sz="950" b="0">
                <a:solidFill>
                  <a:srgbClr val="1E293B"/>
                </a:solidFill>
                <a:latin typeface="Courier New"/>
              </a:defRPr>
            </a:pPr>
            <a:r>
              <a:t>    address issuer;          // Signer</a:t>
            </a:r>
          </a:p>
          <a:p>
            <a:pPr>
              <a:spcAft>
                <a:spcPts val="200"/>
              </a:spcAft>
              <a:defRPr sz="950" b="0">
                <a:solidFill>
                  <a:srgbClr val="1E293B"/>
                </a:solidFill>
                <a:latin typeface="Courier New"/>
              </a:defRPr>
            </a:pPr>
            <a:r>
              <a:t>    uint256 issueTimestamp;  // Block time</a:t>
            </a:r>
          </a:p>
          <a:p>
            <a:pPr>
              <a:spcAft>
                <a:spcPts val="200"/>
              </a:spcAft>
              <a:defRPr sz="950" b="0">
                <a:solidFill>
                  <a:srgbClr val="1E293B"/>
                </a:solidFill>
                <a:latin typeface="Courier New"/>
              </a:defRPr>
            </a:pPr>
            <a:r>
              <a:t>    bool isRevoked;</a:t>
            </a:r>
          </a:p>
          <a:p>
            <a:pPr>
              <a:spcAft>
                <a:spcPts val="200"/>
              </a:spcAft>
              <a:defRPr sz="950" b="0">
                <a:solidFill>
                  <a:srgbClr val="1E293B"/>
                </a:solidFill>
                <a:latin typeface="Courier New"/>
              </a:defRPr>
            </a:pPr>
            <a:r>
              <a:t>    bool exists;</a:t>
            </a:r>
          </a:p>
          <a:p>
            <a:pPr>
              <a:spcAft>
                <a:spcPts val="200"/>
              </a:spcAft>
              <a:defRPr sz="950" b="0">
                <a:solidFill>
                  <a:srgbClr val="1E293B"/>
                </a:solidFill>
                <a:latin typeface="Courier New"/>
              </a:defRPr>
            </a:pPr>
            <a:r>
              <a:t>}</a:t>
            </a:r>
          </a:p>
          <a:p>
            <a:pPr>
              <a:spcAft>
                <a:spcPts val="200"/>
              </a:spcAft>
              <a:defRPr sz="950" b="0">
                <a:solidFill>
                  <a:srgbClr val="1E293B"/>
                </a:solidFill>
                <a:latin typeface="Courier New"/>
              </a:defRPr>
            </a:pPr>
          </a:p>
          <a:p>
            <a:pPr>
              <a:spcAft>
                <a:spcPts val="200"/>
              </a:spcAft>
              <a:defRPr sz="950" b="0">
                <a:solidFill>
                  <a:srgbClr val="1E293B"/>
                </a:solidFill>
                <a:latin typeface="Courier New"/>
              </a:defRPr>
            </a:pPr>
            <a:r>
              <a:t>mapping(string =&gt; Certificate) certificates;</a:t>
            </a:r>
          </a:p>
          <a:p>
            <a:pPr>
              <a:spcAft>
                <a:spcPts val="200"/>
              </a:spcAft>
              <a:defRPr sz="950" b="0">
                <a:solidFill>
                  <a:srgbClr val="1E293B"/>
                </a:solidFill>
                <a:latin typeface="Courier New"/>
              </a:defRPr>
            </a:pPr>
            <a:r>
              <a:t>event CertificateRegistered(id, hash, issuer);</a:t>
            </a:r>
          </a:p>
          <a:p>
            <a:pPr>
              <a:spcAft>
                <a:spcPts val="200"/>
              </a:spcAft>
              <a:defRPr sz="950" b="0">
                <a:solidFill>
                  <a:srgbClr val="1E293B"/>
                </a:solidFill>
                <a:latin typeface="Courier New"/>
              </a:defRPr>
            </a:pPr>
            <a:r>
              <a:t>event CertificateRevoked(id, issuer, time);</a:t>
            </a:r>
          </a:p>
        </p:txBody>
      </p:sp>
      <p:sp>
        <p:nvSpPr>
          <p:cNvPr id="8" name="Rounded Rectangle 7"/>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754880" cy="4297680"/>
          </a:xfrm>
          <a:prstGeom prst="rect">
            <a:avLst/>
          </a:prstGeom>
          <a:noFill/>
        </p:spPr>
        <p:txBody>
          <a:bodyPr wrap="square">
            <a:spAutoFit/>
          </a:bodyPr>
          <a:lstStyle/>
          <a:p>
            <a:pPr>
              <a:spcAft>
                <a:spcPts val="1000"/>
              </a:spcAft>
              <a:defRPr sz="1500" b="1">
                <a:solidFill>
                  <a:srgbClr val="0F172A"/>
                </a:solidFill>
                <a:latin typeface="Calibri"/>
              </a:defRPr>
            </a:pPr>
            <a:r>
              <a:t>Core Contract Functions</a:t>
            </a:r>
          </a:p>
          <a:p>
            <a:pPr>
              <a:spcAft>
                <a:spcPts val="200"/>
              </a:spcAft>
              <a:defRPr sz="1100" b="1">
                <a:solidFill>
                  <a:srgbClr val="2563EB"/>
                </a:solidFill>
                <a:latin typeface="Calibri"/>
              </a:defRPr>
            </a:pPr>
            <a:r>
              <a:t>- registerCertificate(id, hash)</a:t>
            </a:r>
          </a:p>
          <a:p>
            <a:pPr>
              <a:spcAft>
                <a:spcPts val="600"/>
              </a:spcAft>
              <a:defRPr sz="950" b="0">
                <a:solidFill>
                  <a:srgbClr val="0F172A"/>
                </a:solidFill>
                <a:latin typeface="Calibri"/>
              </a:defRPr>
            </a:pPr>
            <a:r>
              <a:t>   Validates non-empty parameters, rejects duplicate IDs, stores sender as issuer, records block timestamp.</a:t>
            </a:r>
          </a:p>
          <a:p>
            <a:pPr>
              <a:spcAft>
                <a:spcPts val="200"/>
              </a:spcAft>
              <a:defRPr sz="1100" b="1">
                <a:solidFill>
                  <a:srgbClr val="2563EB"/>
                </a:solidFill>
                <a:latin typeface="Calibri"/>
              </a:defRPr>
            </a:pPr>
            <a:r>
              <a:t>- verifyCertificate(id, hash)</a:t>
            </a:r>
          </a:p>
          <a:p>
            <a:pPr>
              <a:spcAft>
                <a:spcPts val="600"/>
              </a:spcAft>
              <a:defRPr sz="950" b="0">
                <a:solidFill>
                  <a:srgbClr val="0F172A"/>
                </a:solidFill>
                <a:latin typeface="Calibri"/>
              </a:defRPr>
            </a:pPr>
            <a:r>
              <a:t>   Compares candidate hash with stored hash (keccak256 comparison). Returns (isValid, isRevoked, exists).</a:t>
            </a:r>
          </a:p>
          <a:p>
            <a:pPr>
              <a:spcAft>
                <a:spcPts val="200"/>
              </a:spcAft>
              <a:defRPr sz="1100" b="1">
                <a:solidFill>
                  <a:srgbClr val="2563EB"/>
                </a:solidFill>
                <a:latin typeface="Calibri"/>
              </a:defRPr>
            </a:pPr>
            <a:r>
              <a:t>- revokeCertificate(id)</a:t>
            </a:r>
          </a:p>
          <a:p>
            <a:pPr>
              <a:spcAft>
                <a:spcPts val="600"/>
              </a:spcAft>
              <a:defRPr sz="950" b="0">
                <a:solidFill>
                  <a:srgbClr val="0F172A"/>
                </a:solidFill>
                <a:latin typeface="Calibri"/>
              </a:defRPr>
            </a:pPr>
            <a:r>
              <a:t>   Enforces strict authorization: require(cert.issuer == msg.sender). Sets isRevoked = true and emits event.</a:t>
            </a:r>
          </a:p>
          <a:p>
            <a:pPr>
              <a:spcAft>
                <a:spcPts val="200"/>
              </a:spcAft>
              <a:defRPr sz="1100" b="1">
                <a:solidFill>
                  <a:srgbClr val="2563EB"/>
                </a:solidFill>
                <a:latin typeface="Calibri"/>
              </a:defRPr>
            </a:pPr>
            <a:r>
              <a:t>- getCertificate(id)</a:t>
            </a:r>
          </a:p>
          <a:p>
            <a:pPr>
              <a:spcAft>
                <a:spcPts val="600"/>
              </a:spcAft>
              <a:defRPr sz="950" b="0">
                <a:solidFill>
                  <a:srgbClr val="0F172A"/>
                </a:solidFill>
                <a:latin typeface="Calibri"/>
              </a:defRPr>
            </a:pPr>
            <a:r>
              <a:t>   Public view returning full certificate metadata, timestamp, issuer address, and status.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Key Application Modules</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45920"/>
            <a:ext cx="4663440" cy="1828800"/>
          </a:xfrm>
          <a:prstGeom prst="rect">
            <a:avLst/>
          </a:prstGeom>
          <a:noFill/>
        </p:spPr>
        <p:txBody>
          <a:bodyPr wrap="square">
            <a:spAutoFit/>
          </a:bodyPr>
          <a:lstStyle/>
          <a:p>
            <a:pPr>
              <a:spcAft>
                <a:spcPts val="800"/>
              </a:spcAft>
              <a:defRPr sz="1400" b="1">
                <a:solidFill>
                  <a:srgbClr val="2563EB"/>
                </a:solidFill>
                <a:latin typeface="Calibri"/>
              </a:defRPr>
            </a:pPr>
            <a:r>
              <a:t>Home Landing Page</a:t>
            </a:r>
          </a:p>
          <a:p>
            <a:pPr>
              <a:spcAft>
                <a:spcPts val="400"/>
              </a:spcAft>
              <a:defRPr sz="1100" b="0">
                <a:solidFill>
                  <a:srgbClr val="0F172A"/>
                </a:solidFill>
                <a:latin typeface="Calibri"/>
              </a:defRPr>
            </a:pPr>
            <a:r>
              <a:t>Clean, modern entry point reinforcing the project ethos ('Your Skills. Your Proof.'). Provides direct, responsive navigation across all application features.</a:t>
            </a:r>
          </a:p>
        </p:txBody>
      </p:sp>
      <p:sp>
        <p:nvSpPr>
          <p:cNvPr id="8" name="Rounded Rectangle 7"/>
          <p:cNvSpPr/>
          <p:nvPr/>
        </p:nvSpPr>
        <p:spPr>
          <a:xfrm>
            <a:off x="6217920" y="146304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1828800"/>
          </a:xfrm>
          <a:prstGeom prst="rect">
            <a:avLst/>
          </a:prstGeom>
          <a:noFill/>
        </p:spPr>
        <p:txBody>
          <a:bodyPr wrap="square">
            <a:spAutoFit/>
          </a:bodyPr>
          <a:lstStyle/>
          <a:p>
            <a:pPr>
              <a:spcAft>
                <a:spcPts val="800"/>
              </a:spcAft>
              <a:defRPr sz="1400" b="1">
                <a:solidFill>
                  <a:srgbClr val="2563EB"/>
                </a:solidFill>
                <a:latin typeface="Calibri"/>
              </a:defRPr>
            </a:pPr>
            <a:r>
              <a:t>Add Certificate Module</a:t>
            </a:r>
          </a:p>
          <a:p>
            <a:pPr>
              <a:spcAft>
                <a:spcPts val="400"/>
              </a:spcAft>
              <a:defRPr sz="1100" b="0">
                <a:solidFill>
                  <a:srgbClr val="0F172A"/>
                </a:solidFill>
                <a:latin typeface="Calibri"/>
              </a:defRPr>
            </a:pPr>
            <a:r>
              <a:t>Input validation, unique alphanumeric ID generation, SHA-256 payload calculation, and smart contract broadcasting with live transaction hash display.</a:t>
            </a:r>
          </a:p>
        </p:txBody>
      </p:sp>
      <p:sp>
        <p:nvSpPr>
          <p:cNvPr id="10" name="Rounded Rectangle 9"/>
          <p:cNvSpPr/>
          <p:nvPr/>
        </p:nvSpPr>
        <p:spPr>
          <a:xfrm>
            <a:off x="731520" y="393192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14800"/>
            <a:ext cx="4663440" cy="1828800"/>
          </a:xfrm>
          <a:prstGeom prst="rect">
            <a:avLst/>
          </a:prstGeom>
          <a:noFill/>
        </p:spPr>
        <p:txBody>
          <a:bodyPr wrap="square">
            <a:spAutoFit/>
          </a:bodyPr>
          <a:lstStyle/>
          <a:p>
            <a:pPr>
              <a:spcAft>
                <a:spcPts val="800"/>
              </a:spcAft>
              <a:defRPr sz="1400" b="1">
                <a:solidFill>
                  <a:srgbClr val="2563EB"/>
                </a:solidFill>
                <a:latin typeface="Calibri"/>
              </a:defRPr>
            </a:pPr>
            <a:r>
              <a:t>My Certificates Dashboard</a:t>
            </a:r>
          </a:p>
          <a:p>
            <a:pPr>
              <a:spcAft>
                <a:spcPts val="400"/>
              </a:spcAft>
              <a:defRPr sz="1100" b="0">
                <a:solidFill>
                  <a:srgbClr val="0F172A"/>
                </a:solidFill>
                <a:latin typeface="Calibri"/>
              </a:defRPr>
            </a:pPr>
            <a:r>
              <a:t>Overview of credentials issued in the current browser with live smart contract status querying and issuer-only revocation capability.</a:t>
            </a:r>
          </a:p>
        </p:txBody>
      </p:sp>
      <p:sp>
        <p:nvSpPr>
          <p:cNvPr id="12" name="Rounded Rectangle 11"/>
          <p:cNvSpPr/>
          <p:nvPr/>
        </p:nvSpPr>
        <p:spPr>
          <a:xfrm>
            <a:off x="6217920" y="393192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114800"/>
            <a:ext cx="4663440" cy="1828800"/>
          </a:xfrm>
          <a:prstGeom prst="rect">
            <a:avLst/>
          </a:prstGeom>
          <a:noFill/>
        </p:spPr>
        <p:txBody>
          <a:bodyPr wrap="square">
            <a:spAutoFit/>
          </a:bodyPr>
          <a:lstStyle/>
          <a:p>
            <a:pPr>
              <a:spcAft>
                <a:spcPts val="800"/>
              </a:spcAft>
              <a:defRPr sz="1400" b="1">
                <a:solidFill>
                  <a:srgbClr val="2563EB"/>
                </a:solidFill>
                <a:latin typeface="Calibri"/>
              </a:defRPr>
            </a:pPr>
            <a:r>
              <a:t>Public Verification Portal</a:t>
            </a:r>
          </a:p>
          <a:p>
            <a:pPr>
              <a:spcAft>
                <a:spcPts val="400"/>
              </a:spcAft>
              <a:defRPr sz="1100" b="0">
                <a:solidFill>
                  <a:srgbClr val="0F172A"/>
                </a:solidFill>
                <a:latin typeface="Calibri"/>
              </a:defRPr>
            </a:pPr>
            <a:r>
              <a:t>Independent verification page. Compares calculated hash with on-chain records; highlights VERIFIED, INVALID, or REVOKED credentials.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Security, Privacy &amp; Cryptographic Integrity</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698480" cy="13716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27632"/>
            <a:ext cx="10149840" cy="1042415"/>
          </a:xfrm>
          <a:prstGeom prst="rect">
            <a:avLst/>
          </a:prstGeom>
          <a:noFill/>
        </p:spPr>
        <p:txBody>
          <a:bodyPr wrap="square">
            <a:spAutoFit/>
          </a:bodyPr>
          <a:lstStyle/>
          <a:p>
            <a:pPr>
              <a:spcAft>
                <a:spcPts val="400"/>
              </a:spcAft>
              <a:defRPr sz="1300" b="1">
                <a:solidFill>
                  <a:srgbClr val="2563EB"/>
                </a:solidFill>
                <a:latin typeface="Calibri"/>
              </a:defRPr>
            </a:pPr>
            <a:r>
              <a:t>SHA-256 Data Privacy (Off-Chain Storage)</a:t>
            </a:r>
          </a:p>
          <a:p>
            <a:pPr>
              <a:spcAft>
                <a:spcPts val="400"/>
              </a:spcAft>
              <a:defRPr sz="1050" b="0">
                <a:solidFill>
                  <a:srgbClr val="0F172A"/>
                </a:solidFill>
                <a:latin typeface="Calibri"/>
              </a:defRPr>
            </a:pPr>
            <a:r>
              <a:t>Sensitive student personal information (full name, student ID, grades) is hashed prior to blockchain registration. No private student data is stored in public contract state, ensuring compliance with privacy standards while retaining 100% mathematical verifiability.</a:t>
            </a:r>
          </a:p>
        </p:txBody>
      </p:sp>
      <p:sp>
        <p:nvSpPr>
          <p:cNvPr id="8" name="Rounded Rectangle 7"/>
          <p:cNvSpPr/>
          <p:nvPr/>
        </p:nvSpPr>
        <p:spPr>
          <a:xfrm>
            <a:off x="731520" y="3108960"/>
            <a:ext cx="10698480" cy="13716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273552"/>
            <a:ext cx="10149840" cy="1042415"/>
          </a:xfrm>
          <a:prstGeom prst="rect">
            <a:avLst/>
          </a:prstGeom>
          <a:noFill/>
        </p:spPr>
        <p:txBody>
          <a:bodyPr wrap="square">
            <a:spAutoFit/>
          </a:bodyPr>
          <a:lstStyle/>
          <a:p>
            <a:pPr>
              <a:spcAft>
                <a:spcPts val="400"/>
              </a:spcAft>
              <a:defRPr sz="1300" b="1">
                <a:solidFill>
                  <a:srgbClr val="2563EB"/>
                </a:solidFill>
                <a:latin typeface="Calibri"/>
              </a:defRPr>
            </a:pPr>
            <a:r>
              <a:t>Blockchain Immutability &amp; Anti-Tampering</a:t>
            </a:r>
          </a:p>
          <a:p>
            <a:pPr>
              <a:spcAft>
                <a:spcPts val="400"/>
              </a:spcAft>
              <a:defRPr sz="1050" b="0">
                <a:solidFill>
                  <a:srgbClr val="0F172A"/>
                </a:solidFill>
                <a:latin typeface="Calibri"/>
              </a:defRPr>
            </a:pPr>
            <a:r>
              <a:t>Once a transaction is confirmed in a block, the certificate record cannot be edited, overwritten, backdated, or deleted by any administrative party or attacker. This guarantees zero-trust tamper resistance.</a:t>
            </a:r>
          </a:p>
        </p:txBody>
      </p:sp>
      <p:sp>
        <p:nvSpPr>
          <p:cNvPr id="10" name="Rounded Rectangle 9"/>
          <p:cNvSpPr/>
          <p:nvPr/>
        </p:nvSpPr>
        <p:spPr>
          <a:xfrm>
            <a:off x="731520" y="4754880"/>
            <a:ext cx="10698480" cy="13716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919472"/>
            <a:ext cx="10149840" cy="1042415"/>
          </a:xfrm>
          <a:prstGeom prst="rect">
            <a:avLst/>
          </a:prstGeom>
          <a:noFill/>
        </p:spPr>
        <p:txBody>
          <a:bodyPr wrap="square">
            <a:spAutoFit/>
          </a:bodyPr>
          <a:lstStyle/>
          <a:p>
            <a:pPr>
              <a:spcAft>
                <a:spcPts val="400"/>
              </a:spcAft>
              <a:defRPr sz="1300" b="1">
                <a:solidFill>
                  <a:srgbClr val="2563EB"/>
                </a:solidFill>
                <a:latin typeface="Calibri"/>
              </a:defRPr>
            </a:pPr>
            <a:r>
              <a:t>Smart Contract Access Control &amp; Duplicate Prevention</a:t>
            </a:r>
          </a:p>
          <a:p>
            <a:pPr>
              <a:spcAft>
                <a:spcPts val="400"/>
              </a:spcAft>
              <a:defRPr sz="1050" b="0">
                <a:solidFill>
                  <a:srgbClr val="0F172A"/>
                </a:solidFill>
                <a:latin typeface="Calibri"/>
              </a:defRPr>
            </a:pPr>
            <a:r>
              <a:t>Revocation functions enforce require(cert.issuer == msg.sender), ensuring only the genuine certifying wallet can invalidate credentials. Duplicate registration is eliminated by checking require(!certificates[id].exists).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Technology Stack &amp; Development Environment</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2103120" cy="4297680"/>
          </a:xfrm>
          <a:prstGeom prst="rect">
            <a:avLst/>
          </a:prstGeom>
          <a:noFill/>
        </p:spPr>
        <p:txBody>
          <a:bodyPr wrap="square">
            <a:spAutoFit/>
          </a:bodyPr>
          <a:lstStyle/>
          <a:p>
            <a:pPr>
              <a:spcAft>
                <a:spcPts val="1400"/>
              </a:spcAft>
              <a:defRPr sz="1400" b="1">
                <a:solidFill>
                  <a:srgbClr val="2563EB"/>
                </a:solidFill>
                <a:latin typeface="Calibri"/>
              </a:defRPr>
            </a:pPr>
            <a:r>
              <a:t>Frontend Layer</a:t>
            </a:r>
          </a:p>
          <a:p>
            <a:pPr>
              <a:spcAft>
                <a:spcPts val="800"/>
              </a:spcAft>
              <a:defRPr sz="1100" b="0">
                <a:solidFill>
                  <a:srgbClr val="0F172A"/>
                </a:solidFill>
                <a:latin typeface="Calibri"/>
              </a:defRPr>
            </a:pPr>
            <a:r>
              <a:t>- React.js 18 (Vite 5)</a:t>
            </a:r>
          </a:p>
          <a:p>
            <a:pPr>
              <a:spcAft>
                <a:spcPts val="800"/>
              </a:spcAft>
              <a:defRPr sz="1100" b="0">
                <a:solidFill>
                  <a:srgbClr val="0F172A"/>
                </a:solidFill>
                <a:latin typeface="Calibri"/>
              </a:defRPr>
            </a:pPr>
            <a:r>
              <a:t>- JavaScript (ES6+)</a:t>
            </a:r>
          </a:p>
          <a:p>
            <a:pPr>
              <a:spcAft>
                <a:spcPts val="800"/>
              </a:spcAft>
              <a:defRPr sz="1100" b="0">
                <a:solidFill>
                  <a:srgbClr val="0F172A"/>
                </a:solidFill>
                <a:latin typeface="Calibri"/>
              </a:defRPr>
            </a:pPr>
            <a:r>
              <a:t>- Lucide React (Icons)</a:t>
            </a:r>
          </a:p>
          <a:p>
            <a:pPr>
              <a:spcAft>
                <a:spcPts val="800"/>
              </a:spcAft>
              <a:defRPr sz="1100" b="0">
                <a:solidFill>
                  <a:srgbClr val="0F172A"/>
                </a:solidFill>
                <a:latin typeface="Calibri"/>
              </a:defRPr>
            </a:pPr>
            <a:r>
              <a:t>- Custom CSS3 (Light/Navy Theme)</a:t>
            </a:r>
          </a:p>
        </p:txBody>
      </p:sp>
      <p:sp>
        <p:nvSpPr>
          <p:cNvPr id="8" name="Rounded Rectangle 7"/>
          <p:cNvSpPr/>
          <p:nvPr/>
        </p:nvSpPr>
        <p:spPr>
          <a:xfrm>
            <a:off x="34747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645920"/>
            <a:ext cx="2103120" cy="4297680"/>
          </a:xfrm>
          <a:prstGeom prst="rect">
            <a:avLst/>
          </a:prstGeom>
          <a:noFill/>
        </p:spPr>
        <p:txBody>
          <a:bodyPr wrap="square">
            <a:spAutoFit/>
          </a:bodyPr>
          <a:lstStyle/>
          <a:p>
            <a:pPr>
              <a:spcAft>
                <a:spcPts val="1400"/>
              </a:spcAft>
              <a:defRPr sz="1400" b="1">
                <a:solidFill>
                  <a:srgbClr val="2563EB"/>
                </a:solidFill>
                <a:latin typeface="Calibri"/>
              </a:defRPr>
            </a:pPr>
            <a:r>
              <a:t>Smart Contract</a:t>
            </a:r>
          </a:p>
          <a:p>
            <a:pPr>
              <a:spcAft>
                <a:spcPts val="800"/>
              </a:spcAft>
              <a:defRPr sz="1100" b="0">
                <a:solidFill>
                  <a:srgbClr val="0F172A"/>
                </a:solidFill>
                <a:latin typeface="Calibri"/>
              </a:defRPr>
            </a:pPr>
            <a:r>
              <a:t>- Solidity ^0.8.20</a:t>
            </a:r>
          </a:p>
          <a:p>
            <a:pPr>
              <a:spcAft>
                <a:spcPts val="800"/>
              </a:spcAft>
              <a:defRPr sz="1100" b="0">
                <a:solidFill>
                  <a:srgbClr val="0F172A"/>
                </a:solidFill>
                <a:latin typeface="Calibri"/>
              </a:defRPr>
            </a:pPr>
            <a:r>
              <a:t>- EVM Compatible</a:t>
            </a:r>
          </a:p>
          <a:p>
            <a:pPr>
              <a:spcAft>
                <a:spcPts val="800"/>
              </a:spcAft>
              <a:defRPr sz="1100" b="0">
                <a:solidFill>
                  <a:srgbClr val="0F172A"/>
                </a:solidFill>
                <a:latin typeface="Calibri"/>
              </a:defRPr>
            </a:pPr>
            <a:r>
              <a:t>- Optimized Compiler (Paris)</a:t>
            </a:r>
          </a:p>
          <a:p>
            <a:pPr>
              <a:spcAft>
                <a:spcPts val="800"/>
              </a:spcAft>
              <a:defRPr sz="1100" b="0">
                <a:solidFill>
                  <a:srgbClr val="0F172A"/>
                </a:solidFill>
                <a:latin typeface="Calibri"/>
              </a:defRPr>
            </a:pPr>
            <a:r>
              <a:t>- Custom Structs &amp; Events</a:t>
            </a:r>
          </a:p>
        </p:txBody>
      </p:sp>
      <p:sp>
        <p:nvSpPr>
          <p:cNvPr id="10" name="Rounded Rectangle 9"/>
          <p:cNvSpPr/>
          <p:nvPr/>
        </p:nvSpPr>
        <p:spPr>
          <a:xfrm>
            <a:off x="62179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2103120" cy="4297680"/>
          </a:xfrm>
          <a:prstGeom prst="rect">
            <a:avLst/>
          </a:prstGeom>
          <a:noFill/>
        </p:spPr>
        <p:txBody>
          <a:bodyPr wrap="square">
            <a:spAutoFit/>
          </a:bodyPr>
          <a:lstStyle/>
          <a:p>
            <a:pPr>
              <a:spcAft>
                <a:spcPts val="1400"/>
              </a:spcAft>
              <a:defRPr sz="1400" b="1">
                <a:solidFill>
                  <a:srgbClr val="2563EB"/>
                </a:solidFill>
                <a:latin typeface="Calibri"/>
              </a:defRPr>
            </a:pPr>
            <a:r>
              <a:t>Blockchain Network</a:t>
            </a:r>
          </a:p>
          <a:p>
            <a:pPr>
              <a:spcAft>
                <a:spcPts val="800"/>
              </a:spcAft>
              <a:defRPr sz="1100" b="0">
                <a:solidFill>
                  <a:srgbClr val="0F172A"/>
                </a:solidFill>
                <a:latin typeface="Calibri"/>
              </a:defRPr>
            </a:pPr>
            <a:r>
              <a:t>- Hardhat Local Network</a:t>
            </a:r>
          </a:p>
          <a:p>
            <a:pPr>
              <a:spcAft>
                <a:spcPts val="800"/>
              </a:spcAft>
              <a:defRPr sz="1100" b="0">
                <a:solidFill>
                  <a:srgbClr val="0F172A"/>
                </a:solidFill>
                <a:latin typeface="Calibri"/>
              </a:defRPr>
            </a:pPr>
            <a:r>
              <a:t>- Chain ID: 31337</a:t>
            </a:r>
          </a:p>
          <a:p>
            <a:pPr>
              <a:spcAft>
                <a:spcPts val="800"/>
              </a:spcAft>
              <a:defRPr sz="1100" b="0">
                <a:solidFill>
                  <a:srgbClr val="0F172A"/>
                </a:solidFill>
                <a:latin typeface="Calibri"/>
              </a:defRPr>
            </a:pPr>
            <a:r>
              <a:t>- JSON-RPC Protocol (8545)</a:t>
            </a:r>
          </a:p>
          <a:p>
            <a:pPr>
              <a:spcAft>
                <a:spcPts val="800"/>
              </a:spcAft>
              <a:defRPr sz="1100" b="0">
                <a:solidFill>
                  <a:srgbClr val="0F172A"/>
                </a:solidFill>
                <a:latin typeface="Calibri"/>
              </a:defRPr>
            </a:pPr>
            <a:r>
              <a:t>- MetaMask Wallet Integration</a:t>
            </a:r>
          </a:p>
        </p:txBody>
      </p:sp>
      <p:sp>
        <p:nvSpPr>
          <p:cNvPr id="12" name="Rounded Rectangle 11"/>
          <p:cNvSpPr/>
          <p:nvPr/>
        </p:nvSpPr>
        <p:spPr>
          <a:xfrm>
            <a:off x="8961120" y="1463040"/>
            <a:ext cx="24688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645920"/>
            <a:ext cx="2103120" cy="4297680"/>
          </a:xfrm>
          <a:prstGeom prst="rect">
            <a:avLst/>
          </a:prstGeom>
          <a:noFill/>
        </p:spPr>
        <p:txBody>
          <a:bodyPr wrap="square">
            <a:spAutoFit/>
          </a:bodyPr>
          <a:lstStyle/>
          <a:p>
            <a:pPr>
              <a:spcAft>
                <a:spcPts val="1400"/>
              </a:spcAft>
              <a:defRPr sz="1400" b="1">
                <a:solidFill>
                  <a:srgbClr val="2563EB"/>
                </a:solidFill>
                <a:latin typeface="Calibri"/>
              </a:defRPr>
            </a:pPr>
            <a:r>
              <a:t>Web3 &amp; Testing</a:t>
            </a:r>
          </a:p>
          <a:p>
            <a:pPr>
              <a:spcAft>
                <a:spcPts val="800"/>
              </a:spcAft>
              <a:defRPr sz="1100" b="0">
                <a:solidFill>
                  <a:srgbClr val="0F172A"/>
                </a:solidFill>
                <a:latin typeface="Calibri"/>
              </a:defRPr>
            </a:pPr>
            <a:r>
              <a:t>- Ethers.js (v6)</a:t>
            </a:r>
          </a:p>
          <a:p>
            <a:pPr>
              <a:spcAft>
                <a:spcPts val="800"/>
              </a:spcAft>
              <a:defRPr sz="1100" b="0">
                <a:solidFill>
                  <a:srgbClr val="0F172A"/>
                </a:solidFill>
                <a:latin typeface="Calibri"/>
              </a:defRPr>
            </a:pPr>
            <a:r>
              <a:t>- Mocha Test Framework</a:t>
            </a:r>
          </a:p>
          <a:p>
            <a:pPr>
              <a:spcAft>
                <a:spcPts val="800"/>
              </a:spcAft>
              <a:defRPr sz="1100" b="0">
                <a:solidFill>
                  <a:srgbClr val="0F172A"/>
                </a:solidFill>
                <a:latin typeface="Calibri"/>
              </a:defRPr>
            </a:pPr>
            <a:r>
              <a:t>- Chai Assertion Library</a:t>
            </a:r>
          </a:p>
          <a:p>
            <a:pPr>
              <a:spcAft>
                <a:spcPts val="800"/>
              </a:spcAft>
              <a:defRPr sz="1100" b="0">
                <a:solidFill>
                  <a:srgbClr val="0F172A"/>
                </a:solidFill>
                <a:latin typeface="Calibri"/>
              </a:defRPr>
            </a:pPr>
            <a:r>
              <a:t>- Browser localStorage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Automated Testing &amp; Validation (10/10 Passing)</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840480" cy="47548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3383280" cy="4206240"/>
          </a:xfrm>
          <a:prstGeom prst="rect">
            <a:avLst/>
          </a:prstGeom>
          <a:noFill/>
        </p:spPr>
        <p:txBody>
          <a:bodyPr wrap="square">
            <a:spAutoFit/>
          </a:bodyPr>
          <a:lstStyle/>
          <a:p>
            <a:pPr>
              <a:spcAft>
                <a:spcPts val="1200"/>
              </a:spcAft>
              <a:defRPr sz="2400" b="1">
                <a:solidFill>
                  <a:srgbClr val="059669"/>
                </a:solidFill>
                <a:latin typeface="Calibri"/>
              </a:defRPr>
            </a:pPr>
            <a:r>
              <a:t>100% Pass Rate</a:t>
            </a:r>
          </a:p>
          <a:p>
            <a:pPr>
              <a:spcAft>
                <a:spcPts val="800"/>
              </a:spcAft>
              <a:defRPr sz="1300" b="1">
                <a:solidFill>
                  <a:srgbClr val="0F172A"/>
                </a:solidFill>
                <a:latin typeface="Calibri"/>
              </a:defRPr>
            </a:pPr>
            <a:r>
              <a:t>Test Suite Overview:</a:t>
            </a:r>
          </a:p>
          <a:p>
            <a:pPr>
              <a:spcAft>
                <a:spcPts val="400"/>
              </a:spcAft>
              <a:defRPr sz="1100" b="0">
                <a:solidFill>
                  <a:srgbClr val="0F172A"/>
                </a:solidFill>
                <a:latin typeface="Calibri"/>
              </a:defRPr>
            </a:pPr>
            <a:r>
              <a:t>- Framework: Hardhat + Mocha + Chai</a:t>
            </a:r>
          </a:p>
          <a:p>
            <a:pPr>
              <a:spcAft>
                <a:spcPts val="400"/>
              </a:spcAft>
              <a:defRPr sz="1100" b="0">
                <a:solidFill>
                  <a:srgbClr val="0F172A"/>
                </a:solidFill>
                <a:latin typeface="Calibri"/>
              </a:defRPr>
            </a:pPr>
            <a:r>
              <a:t>- Execution Speed: &lt; 800ms</a:t>
            </a:r>
          </a:p>
          <a:p>
            <a:pPr>
              <a:spcAft>
                <a:spcPts val="400"/>
              </a:spcAft>
              <a:defRPr sz="1100" b="0">
                <a:solidFill>
                  <a:srgbClr val="0F172A"/>
                </a:solidFill>
                <a:latin typeface="Calibri"/>
              </a:defRPr>
            </a:pPr>
            <a:r>
              <a:t>- Zero Flaky Tests</a:t>
            </a:r>
          </a:p>
          <a:p>
            <a:pPr>
              <a:spcAft>
                <a:spcPts val="400"/>
              </a:spcAft>
              <a:defRPr sz="1100" b="0">
                <a:solidFill>
                  <a:srgbClr val="0F172A"/>
                </a:solidFill>
                <a:latin typeface="Calibri"/>
              </a:defRPr>
            </a:pPr>
            <a:r>
              <a:t>- Comprehensive Revert Handling</a:t>
            </a:r>
          </a:p>
          <a:p>
            <a:pPr>
              <a:spcAft>
                <a:spcPts val="400"/>
              </a:spcAft>
              <a:defRPr sz="1100" b="0">
                <a:solidFill>
                  <a:srgbClr val="0F172A"/>
                </a:solidFill>
                <a:latin typeface="Calibri"/>
              </a:defRPr>
            </a:pPr>
            <a:r>
              <a:t>- Real Local Blockchain Simulation</a:t>
            </a:r>
          </a:p>
        </p:txBody>
      </p:sp>
      <p:sp>
        <p:nvSpPr>
          <p:cNvPr id="8" name="Rounded Rectangle 7"/>
          <p:cNvSpPr/>
          <p:nvPr/>
        </p:nvSpPr>
        <p:spPr>
          <a:xfrm>
            <a:off x="4846320" y="1463040"/>
            <a:ext cx="65836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645920"/>
            <a:ext cx="6126480" cy="4297680"/>
          </a:xfrm>
          <a:prstGeom prst="rect">
            <a:avLst/>
          </a:prstGeom>
          <a:noFill/>
        </p:spPr>
        <p:txBody>
          <a:bodyPr wrap="square">
            <a:spAutoFit/>
          </a:bodyPr>
          <a:lstStyle/>
          <a:p>
            <a:pPr>
              <a:spcAft>
                <a:spcPts val="1000"/>
              </a:spcAft>
              <a:defRPr sz="1400" b="1">
                <a:solidFill>
                  <a:srgbClr val="0F172A"/>
                </a:solidFill>
                <a:latin typeface="Calibri"/>
              </a:defRPr>
            </a:pPr>
            <a:r>
              <a:t>Automated Test Scenarios Covered:</a:t>
            </a:r>
          </a:p>
          <a:p>
            <a:pPr>
              <a:spcAft>
                <a:spcPts val="400"/>
              </a:spcAft>
              <a:defRPr sz="980" b="0">
                <a:solidFill>
                  <a:srgbClr val="0F172A"/>
                </a:solidFill>
                <a:latin typeface="Calibri"/>
              </a:defRPr>
            </a:pPr>
            <a:r>
              <a:t>[PASS] Registering a certificate on-chain with unique ID and SHA-256 hash</a:t>
            </a:r>
          </a:p>
          <a:p>
            <a:pPr>
              <a:spcAft>
                <a:spcPts val="400"/>
              </a:spcAft>
              <a:defRPr sz="980" b="0">
                <a:solidFill>
                  <a:srgbClr val="0F172A"/>
                </a:solidFill>
                <a:latin typeface="Calibri"/>
              </a:defRPr>
            </a:pPr>
            <a:r>
              <a:t>[PASS] Rejecting duplicate certificate IDs (preventing record collisions)</a:t>
            </a:r>
          </a:p>
          <a:p>
            <a:pPr>
              <a:spcAft>
                <a:spcPts val="400"/>
              </a:spcAft>
              <a:defRPr sz="980" b="0">
                <a:solidFill>
                  <a:srgbClr val="0F172A"/>
                </a:solidFill>
                <a:latin typeface="Calibri"/>
              </a:defRPr>
            </a:pPr>
            <a:r>
              <a:t>[PASS] Rejecting registration with empty certificate ID or hash parameters</a:t>
            </a:r>
          </a:p>
          <a:p>
            <a:pPr>
              <a:spcAft>
                <a:spcPts val="400"/>
              </a:spcAft>
              <a:defRPr sz="980" b="0">
                <a:solidFill>
                  <a:srgbClr val="0F172A"/>
                </a:solidFill>
                <a:latin typeface="Calibri"/>
              </a:defRPr>
            </a:pPr>
            <a:r>
              <a:t>[PASS] Verifying authentic certificate hashes (returns isValid = true)</a:t>
            </a:r>
          </a:p>
          <a:p>
            <a:pPr>
              <a:spcAft>
                <a:spcPts val="400"/>
              </a:spcAft>
              <a:defRPr sz="980" b="0">
                <a:solidFill>
                  <a:srgbClr val="0F172A"/>
                </a:solidFill>
                <a:latin typeface="Calibri"/>
              </a:defRPr>
            </a:pPr>
            <a:r>
              <a:t>[PASS] Detecting &amp; rejecting tampered/altered certificate hashes</a:t>
            </a:r>
          </a:p>
          <a:p>
            <a:pPr>
              <a:spcAft>
                <a:spcPts val="400"/>
              </a:spcAft>
              <a:defRPr sz="980" b="0">
                <a:solidFill>
                  <a:srgbClr val="0F172A"/>
                </a:solidFill>
                <a:latin typeface="Calibri"/>
              </a:defRPr>
            </a:pPr>
            <a:r>
              <a:t>[PASS] Graceful handling of non-existent certificate IDs</a:t>
            </a:r>
          </a:p>
          <a:p>
            <a:pPr>
              <a:spcAft>
                <a:spcPts val="400"/>
              </a:spcAft>
              <a:defRPr sz="980" b="0">
                <a:solidFill>
                  <a:srgbClr val="0F172A"/>
                </a:solidFill>
                <a:latin typeface="Calibri"/>
              </a:defRPr>
            </a:pPr>
            <a:r>
              <a:t>[PASS] Authorizing certificate revocation by genuine issuer address</a:t>
            </a:r>
          </a:p>
          <a:p>
            <a:pPr>
              <a:spcAft>
                <a:spcPts val="400"/>
              </a:spcAft>
              <a:defRPr sz="980" b="0">
                <a:solidFill>
                  <a:srgbClr val="0F172A"/>
                </a:solidFill>
                <a:latin typeface="Calibri"/>
              </a:defRPr>
            </a:pPr>
            <a:r>
              <a:t>[PASS] Rejecting revocation attempts by unauthorized non-issuer accounts</a:t>
            </a:r>
          </a:p>
          <a:p>
            <a:pPr>
              <a:spcAft>
                <a:spcPts val="400"/>
              </a:spcAft>
              <a:defRPr sz="980" b="0">
                <a:solidFill>
                  <a:srgbClr val="0F172A"/>
                </a:solidFill>
                <a:latin typeface="Calibri"/>
              </a:defRPr>
            </a:pPr>
            <a:r>
              <a:t>[PASS] Rejecting verification for revoked certificates (isRevoked = true)</a:t>
            </a:r>
          </a:p>
          <a:p>
            <a:pPr>
              <a:spcAft>
                <a:spcPts val="400"/>
              </a:spcAft>
              <a:defRPr sz="980" b="0">
                <a:solidFill>
                  <a:srgbClr val="0F172A"/>
                </a:solidFill>
                <a:latin typeface="Calibri"/>
              </a:defRPr>
            </a:pPr>
            <a:r>
              <a:t>[PASS] Preventing duplicate revocation attempts on revoked certificates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9144000" cy="274320"/>
          </a:xfrm>
          <a:prstGeom prst="rect">
            <a:avLst/>
          </a:prstGeom>
          <a:noFill/>
        </p:spPr>
        <p:txBody>
          <a:bodyPr wrap="square">
            <a:spAutoFit/>
          </a:bodyPr>
          <a:lstStyle/>
          <a:p>
            <a:pPr>
              <a:spcAft>
                <a:spcPts val="400"/>
              </a:spcAft>
              <a:defRPr sz="950" b="1">
                <a:solidFill>
                  <a:srgbClr val="60A5FA"/>
                </a:solidFill>
                <a:latin typeface="Calibri"/>
              </a:defRPr>
            </a:pPr>
            <a:r>
              <a:t>SKILLCHAIN • BLOCKCHAIN PROJECT</a:t>
            </a:r>
          </a:p>
        </p:txBody>
      </p:sp>
      <p:sp>
        <p:nvSpPr>
          <p:cNvPr id="4" name="TextBox 3"/>
          <p:cNvSpPr txBox="1"/>
          <p:nvPr/>
        </p:nvSpPr>
        <p:spPr>
          <a:xfrm>
            <a:off x="731520" y="411480"/>
            <a:ext cx="10058400" cy="548640"/>
          </a:xfrm>
          <a:prstGeom prst="rect">
            <a:avLst/>
          </a:prstGeom>
          <a:noFill/>
        </p:spPr>
        <p:txBody>
          <a:bodyPr wrap="square">
            <a:spAutoFit/>
          </a:bodyPr>
          <a:lstStyle/>
          <a:p>
            <a:pPr>
              <a:spcAft>
                <a:spcPts val="400"/>
              </a:spcAft>
              <a:defRPr sz="2000" b="1">
                <a:solidFill>
                  <a:srgbClr val="FFFFFF"/>
                </a:solidFill>
                <a:latin typeface="Calibri"/>
              </a:defRPr>
            </a:pPr>
            <a:r>
              <a:t>Demonstration Walkthrough</a:t>
            </a:r>
          </a:p>
        </p:txBody>
      </p:sp>
      <p:sp>
        <p:nvSpPr>
          <p:cNvPr id="5" name="Rectangle 4"/>
          <p:cNvSpPr/>
          <p:nvPr/>
        </p:nvSpPr>
        <p:spPr>
          <a:xfrm>
            <a:off x="0" y="1033271"/>
            <a:ext cx="12191695" cy="3657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45920"/>
            <a:ext cx="4663440" cy="1828800"/>
          </a:xfrm>
          <a:prstGeom prst="rect">
            <a:avLst/>
          </a:prstGeom>
          <a:noFill/>
        </p:spPr>
        <p:txBody>
          <a:bodyPr wrap="square">
            <a:spAutoFit/>
          </a:bodyPr>
          <a:lstStyle/>
          <a:p>
            <a:pPr>
              <a:spcAft>
                <a:spcPts val="800"/>
              </a:spcAft>
              <a:defRPr sz="1400" b="1">
                <a:solidFill>
                  <a:srgbClr val="2563EB"/>
                </a:solidFill>
                <a:latin typeface="Calibri"/>
              </a:defRPr>
            </a:pPr>
            <a:r>
              <a:t>1. Issue Certificate</a:t>
            </a:r>
          </a:p>
          <a:p>
            <a:pPr>
              <a:spcAft>
                <a:spcPts val="400"/>
              </a:spcAft>
              <a:defRPr sz="1100" b="0">
                <a:solidFill>
                  <a:srgbClr val="0F172A"/>
                </a:solidFill>
                <a:latin typeface="Calibri"/>
              </a:defRPr>
            </a:pPr>
            <a:r>
              <a:t>Navigate to 'Add Certificate', input student name and skill, and click register. Transaction is mined in Hardhat, returning a unique Certificate ID and real Ethereum Tx hash.</a:t>
            </a:r>
          </a:p>
        </p:txBody>
      </p:sp>
      <p:sp>
        <p:nvSpPr>
          <p:cNvPr id="8" name="Rounded Rectangle 7"/>
          <p:cNvSpPr/>
          <p:nvPr/>
        </p:nvSpPr>
        <p:spPr>
          <a:xfrm>
            <a:off x="6217920" y="146304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1828800"/>
          </a:xfrm>
          <a:prstGeom prst="rect">
            <a:avLst/>
          </a:prstGeom>
          <a:noFill/>
        </p:spPr>
        <p:txBody>
          <a:bodyPr wrap="square">
            <a:spAutoFit/>
          </a:bodyPr>
          <a:lstStyle/>
          <a:p>
            <a:pPr>
              <a:spcAft>
                <a:spcPts val="800"/>
              </a:spcAft>
              <a:defRPr sz="1400" b="1">
                <a:solidFill>
                  <a:srgbClr val="2563EB"/>
                </a:solidFill>
                <a:latin typeface="Calibri"/>
              </a:defRPr>
            </a:pPr>
            <a:r>
              <a:t>2. View in Passport</a:t>
            </a:r>
          </a:p>
          <a:p>
            <a:pPr>
              <a:spcAft>
                <a:spcPts val="400"/>
              </a:spcAft>
              <a:defRPr sz="1100" b="0">
                <a:solidFill>
                  <a:srgbClr val="0F172A"/>
                </a:solidFill>
                <a:latin typeface="Calibri"/>
              </a:defRPr>
            </a:pPr>
            <a:r>
              <a:t>Navigate to 'My Certificates'. The issued certificate appears instantly with its issuer, issue date, and an on-chain status verification badge.</a:t>
            </a:r>
          </a:p>
        </p:txBody>
      </p:sp>
      <p:sp>
        <p:nvSpPr>
          <p:cNvPr id="10" name="Rounded Rectangle 9"/>
          <p:cNvSpPr/>
          <p:nvPr/>
        </p:nvSpPr>
        <p:spPr>
          <a:xfrm>
            <a:off x="731520" y="393192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14800"/>
            <a:ext cx="4663440" cy="1828800"/>
          </a:xfrm>
          <a:prstGeom prst="rect">
            <a:avLst/>
          </a:prstGeom>
          <a:noFill/>
        </p:spPr>
        <p:txBody>
          <a:bodyPr wrap="square">
            <a:spAutoFit/>
          </a:bodyPr>
          <a:lstStyle/>
          <a:p>
            <a:pPr>
              <a:spcAft>
                <a:spcPts val="800"/>
              </a:spcAft>
              <a:defRPr sz="1400" b="1">
                <a:solidFill>
                  <a:srgbClr val="2563EB"/>
                </a:solidFill>
                <a:latin typeface="Calibri"/>
              </a:defRPr>
            </a:pPr>
            <a:r>
              <a:t>3. Public Verification</a:t>
            </a:r>
          </a:p>
          <a:p>
            <a:pPr>
              <a:spcAft>
                <a:spcPts val="400"/>
              </a:spcAft>
              <a:defRPr sz="1100" b="0">
                <a:solidFill>
                  <a:srgbClr val="0F172A"/>
                </a:solidFill>
                <a:latin typeface="Calibri"/>
              </a:defRPr>
            </a:pPr>
            <a:r>
              <a:t>Enter the Certificate ID on the public 'Verify' page. The application calculates the SHA-256 hash and compares it on-chain to display a bold VERIFIED badge.</a:t>
            </a:r>
          </a:p>
        </p:txBody>
      </p:sp>
      <p:sp>
        <p:nvSpPr>
          <p:cNvPr id="12" name="Rounded Rectangle 11"/>
          <p:cNvSpPr/>
          <p:nvPr/>
        </p:nvSpPr>
        <p:spPr>
          <a:xfrm>
            <a:off x="6217920" y="3931920"/>
            <a:ext cx="5120640" cy="2194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114800"/>
            <a:ext cx="4663440" cy="1828800"/>
          </a:xfrm>
          <a:prstGeom prst="rect">
            <a:avLst/>
          </a:prstGeom>
          <a:noFill/>
        </p:spPr>
        <p:txBody>
          <a:bodyPr wrap="square">
            <a:spAutoFit/>
          </a:bodyPr>
          <a:lstStyle/>
          <a:p>
            <a:pPr>
              <a:spcAft>
                <a:spcPts val="800"/>
              </a:spcAft>
              <a:defRPr sz="1400" b="1">
                <a:solidFill>
                  <a:srgbClr val="2563EB"/>
                </a:solidFill>
                <a:latin typeface="Calibri"/>
              </a:defRPr>
            </a:pPr>
            <a:r>
              <a:t>4. Negative &amp; Revoke Test</a:t>
            </a:r>
          </a:p>
          <a:p>
            <a:pPr>
              <a:spcAft>
                <a:spcPts val="400"/>
              </a:spcAft>
              <a:defRPr sz="1100" b="0">
                <a:solidFill>
                  <a:srgbClr val="0F172A"/>
                </a:solidFill>
                <a:latin typeface="Calibri"/>
              </a:defRPr>
            </a:pPr>
            <a:r>
              <a:t>Altering even a single character in the certificate details immediately triggers an INVALID alert. Clicking Revoke updates on-chain state to REVOKED.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18320" cy="3474720"/>
          </a:xfrm>
          <a:prstGeom prst="rect">
            <a:avLst/>
          </a:prstGeom>
          <a:noFill/>
        </p:spPr>
        <p:txBody>
          <a:bodyPr wrap="square">
            <a:spAutoFit/>
          </a:bodyPr>
          <a:lstStyle/>
          <a:p>
            <a:pPr>
              <a:spcAft>
                <a:spcPts val="1200"/>
              </a:spcAft>
              <a:defRPr sz="4400" b="1">
                <a:solidFill>
                  <a:srgbClr val="FFFFFF"/>
                </a:solidFill>
                <a:latin typeface="Calibri"/>
              </a:defRPr>
            </a:pPr>
            <a:r>
              <a:t>Thank You!</a:t>
            </a:r>
          </a:p>
          <a:p>
            <a:pPr>
              <a:spcAft>
                <a:spcPts val="2400"/>
              </a:spcAft>
              <a:defRPr sz="2200" b="1">
                <a:solidFill>
                  <a:srgbClr val="60A5FA"/>
                </a:solidFill>
                <a:latin typeface="Calibri"/>
              </a:defRPr>
            </a:pPr>
            <a:r>
              <a:t>Questions &amp; Answers (Q&amp;A)</a:t>
            </a:r>
          </a:p>
          <a:p>
            <a:pPr>
              <a:spcAft>
                <a:spcPts val="400"/>
              </a:spcAft>
              <a:defRPr sz="1300" b="0">
                <a:solidFill>
                  <a:srgbClr val="CBD5E1"/>
                </a:solidFill>
                <a:latin typeface="Calibri"/>
              </a:defRPr>
            </a:pPr>
            <a:r>
              <a:t>GitHub Repository: https://github.com/saksham1126/SkillChain</a:t>
            </a:r>
          </a:p>
          <a:p>
            <a:pPr>
              <a:spcAft>
                <a:spcPts val="400"/>
              </a:spcAft>
              <a:defRPr sz="1300" b="0">
                <a:solidFill>
                  <a:srgbClr val="CBD5E1"/>
                </a:solidFill>
                <a:latin typeface="Calibri"/>
              </a:defRPr>
            </a:pPr>
            <a:r>
              <a:t>Author: Saksham Pathak  |  Project: SkillChain — Blockchain-Based Skill Passport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